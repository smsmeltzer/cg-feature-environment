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Barlow ExtraLight"/>
      <p:regular r:id="rId13"/>
      <p:bold r:id="rId14"/>
      <p:italic r:id="rId15"/>
      <p:boldItalic r:id="rId16"/>
    </p:embeddedFont>
    <p:embeddedFont>
      <p:font typeface="Hepta Slab Medium"/>
      <p:regular r:id="rId17"/>
      <p:bold r:id="rId18"/>
    </p:embeddedFont>
    <p:embeddedFont>
      <p:font typeface="Hepta Slab Light"/>
      <p:regular r:id="rId19"/>
      <p:bold r:id="rId20"/>
    </p:embeddedFont>
    <p:embeddedFont>
      <p:font typeface="Hepta Slab"/>
      <p:regular r:id="rId21"/>
      <p:bold r:id="rId22"/>
    </p:embeddedFont>
    <p:embeddedFont>
      <p:font typeface="Barlow Medium"/>
      <p:regular r:id="rId23"/>
      <p:bold r:id="rId24"/>
      <p:italic r:id="rId25"/>
      <p:boldItalic r:id="rId26"/>
    </p:embeddedFont>
    <p:embeddedFont>
      <p:font typeface="Barlow Light"/>
      <p:regular r:id="rId27"/>
      <p:bold r:id="rId28"/>
      <p:italic r:id="rId29"/>
      <p:boldItalic r:id="rId30"/>
    </p:embeddedFont>
    <p:embeddedFont>
      <p:font typeface="Barlow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gBgwpMTQWfZl70VeKa7Dvf1qAb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ptaSlabLight-bold.fntdata"/><Relationship Id="rId22" Type="http://schemas.openxmlformats.org/officeDocument/2006/relationships/font" Target="fonts/HeptaSlab-bold.fntdata"/><Relationship Id="rId21" Type="http://schemas.openxmlformats.org/officeDocument/2006/relationships/font" Target="fonts/HeptaSlab-regular.fntdata"/><Relationship Id="rId24" Type="http://schemas.openxmlformats.org/officeDocument/2006/relationships/font" Target="fonts/BarlowMedium-bold.fntdata"/><Relationship Id="rId23" Type="http://schemas.openxmlformats.org/officeDocument/2006/relationships/font" Target="fonts/Barlow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Medium-boldItalic.fntdata"/><Relationship Id="rId25" Type="http://schemas.openxmlformats.org/officeDocument/2006/relationships/font" Target="fonts/BarlowMedium-italic.fntdata"/><Relationship Id="rId28" Type="http://schemas.openxmlformats.org/officeDocument/2006/relationships/font" Target="fonts/BarlowLight-bold.fntdata"/><Relationship Id="rId27" Type="http://schemas.openxmlformats.org/officeDocument/2006/relationships/font" Target="fonts/Barlow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-regular.fntdata"/><Relationship Id="rId30" Type="http://schemas.openxmlformats.org/officeDocument/2006/relationships/font" Target="fonts/BarlowLight-boldItalic.fntdata"/><Relationship Id="rId11" Type="http://schemas.openxmlformats.org/officeDocument/2006/relationships/slide" Target="slides/slide6.xml"/><Relationship Id="rId33" Type="http://schemas.openxmlformats.org/officeDocument/2006/relationships/font" Target="fonts/Barlow-italic.fntdata"/><Relationship Id="rId10" Type="http://schemas.openxmlformats.org/officeDocument/2006/relationships/slide" Target="slides/slide5.xml"/><Relationship Id="rId32" Type="http://schemas.openxmlformats.org/officeDocument/2006/relationships/font" Target="fonts/Barlow-bold.fntdata"/><Relationship Id="rId13" Type="http://schemas.openxmlformats.org/officeDocument/2006/relationships/font" Target="fonts/BarlowExtraLight-regular.fntdata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Barlow-boldItalic.fntdata"/><Relationship Id="rId15" Type="http://schemas.openxmlformats.org/officeDocument/2006/relationships/font" Target="fonts/BarlowExtraLight-italic.fntdata"/><Relationship Id="rId14" Type="http://schemas.openxmlformats.org/officeDocument/2006/relationships/font" Target="fonts/BarlowExtraLight-bold.fntdata"/><Relationship Id="rId17" Type="http://schemas.openxmlformats.org/officeDocument/2006/relationships/font" Target="fonts/HeptaSlabMedium-regular.fntdata"/><Relationship Id="rId16" Type="http://schemas.openxmlformats.org/officeDocument/2006/relationships/font" Target="fonts/BarlowExtraLight-boldItalic.fntdata"/><Relationship Id="rId19" Type="http://schemas.openxmlformats.org/officeDocument/2006/relationships/font" Target="fonts/HeptaSlabLight-regular.fntdata"/><Relationship Id="rId18" Type="http://schemas.openxmlformats.org/officeDocument/2006/relationships/font" Target="fonts/HeptaSlab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Sarah: Models on right side and back wall, trashcan, final render with atmosphere.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Grace: Models on left side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d86b14db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3d86b14db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d86b14db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d86b14db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d86b14d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3d86b14d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5" name="Google Shape;55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" name="Google Shape;63;p1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" name="Google Shape;64;p1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" name="Google Shape;65;p1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" name="Google Shape;67;p1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1" name="Google Shape;71;p2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2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2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22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" name="Google Shape;87;p22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22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2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" name="Google Shape;97;p2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2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2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" name="Google Shape;112;p2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2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2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0" name="Google Shape;12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3" name="Google Shape;123;p2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2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42" name="Google Shape;142;p29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3" name="Google Shape;14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7" name="Google Shape;147;p30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9" name="Google Shape;149;p30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0" name="Google Shape;150;p30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1" name="Google Shape;151;p30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2" name="Google Shape;152;p30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3" name="Google Shape;153;p30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4" name="Google Shape;154;p30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5" name="Google Shape;155;p30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63" name="Google Shape;163;p30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" sz="7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b="0" i="1" sz="700" u="none" cap="none" strike="noStrike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8" name="Google Shape;168;p31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70" name="Google Shape;170;p31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2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5" name="Google Shape;175;p32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3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3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3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3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33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33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33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33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0" name="Google Shape;190;p33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1" name="Google Shape;191;p33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4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7" name="Google Shape;197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0" name="Google Shape;200;p35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6" name="Google Shape;206;p36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7" name="Google Shape;207;p36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8" name="Google Shape;208;p36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0" name="Google Shape;210;p3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7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8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8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219" name="Google Shape;219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8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8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9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9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9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9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9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0" lIns="274300" spcFirstLastPara="1" rIns="274300" wrap="square" tIns="27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43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4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4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4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44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4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4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4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4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4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4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4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4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4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4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5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7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7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7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7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7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7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7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7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7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7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7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7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7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8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8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8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48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8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8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8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8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8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8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8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8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8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8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8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8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8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9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0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50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b="0" i="0" sz="3600" u="none" cap="none" strike="noStrike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b="0" i="0" sz="15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 b="0" i="0" sz="14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b="0" i="0" sz="12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b="0" i="0" sz="11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b="0" i="0" sz="1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b="0" i="0" sz="9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b="0" i="0" sz="8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b="0" i="0" sz="8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7.png"/><Relationship Id="rId11" Type="http://schemas.openxmlformats.org/officeDocument/2006/relationships/image" Target="../media/image5.png"/><Relationship Id="rId10" Type="http://schemas.openxmlformats.org/officeDocument/2006/relationships/hyperlink" Target="https://github.com/smsmeltzer/CG-Feature-Environment" TargetMode="External"/><Relationship Id="rId12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Transformers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One</a:t>
            </a:r>
            <a:endParaRPr/>
          </a:p>
        </p:txBody>
      </p:sp>
      <p:sp>
        <p:nvSpPr>
          <p:cNvPr id="327" name="Google Shape;327;p1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Sarah Smeltzer and Grace Hough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"/>
          <p:cNvSpPr txBox="1"/>
          <p:nvPr>
            <p:ph type="title"/>
          </p:nvPr>
        </p:nvSpPr>
        <p:spPr>
          <a:xfrm>
            <a:off x="465046" y="249400"/>
            <a:ext cx="50946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Original</a:t>
            </a:r>
            <a:endParaRPr/>
          </a:p>
        </p:txBody>
      </p:sp>
      <p:pic>
        <p:nvPicPr>
          <p:cNvPr id="333" name="Google Shape;3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0" y="1404475"/>
            <a:ext cx="8293502" cy="3455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"/>
          <p:cNvSpPr txBox="1"/>
          <p:nvPr>
            <p:ph type="title"/>
          </p:nvPr>
        </p:nvSpPr>
        <p:spPr>
          <a:xfrm>
            <a:off x="465050" y="249400"/>
            <a:ext cx="50946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Process</a:t>
            </a:r>
            <a:endParaRPr/>
          </a:p>
        </p:txBody>
      </p:sp>
      <p:pic>
        <p:nvPicPr>
          <p:cNvPr id="339" name="Google Shape;3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975" y="218934"/>
            <a:ext cx="1978650" cy="1005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0550" y="218938"/>
            <a:ext cx="1005025" cy="10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8194" y="186863"/>
            <a:ext cx="1069175" cy="106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5774" y="1193500"/>
            <a:ext cx="2506592" cy="115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772" y="2350272"/>
            <a:ext cx="2506599" cy="1353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775" y="3703950"/>
            <a:ext cx="2506599" cy="1253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67950" y="1256045"/>
            <a:ext cx="4001500" cy="16209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"/>
          <p:cNvSpPr txBox="1"/>
          <p:nvPr/>
        </p:nvSpPr>
        <p:spPr>
          <a:xfrm>
            <a:off x="3177625" y="4530075"/>
            <a:ext cx="3704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sng" cap="none" strike="noStrike">
                <a:solidFill>
                  <a:schemeClr val="hlink"/>
                </a:solidFill>
                <a:latin typeface="Barlow Light"/>
                <a:ea typeface="Barlow Light"/>
                <a:cs typeface="Barlow Light"/>
                <a:sym typeface="Barlow Light"/>
                <a:hlinkClick r:id="rId10"/>
              </a:rPr>
              <a:t>GITHUB Link</a:t>
            </a:r>
            <a:r>
              <a:rPr b="0" i="0" lang="en" sz="2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endParaRPr b="0" i="0" sz="23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347" name="Google Shape;347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23525" y="2877025"/>
            <a:ext cx="4001501" cy="1667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92478" y="1446225"/>
            <a:ext cx="1271900" cy="343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"/>
          <p:cNvSpPr txBox="1"/>
          <p:nvPr>
            <p:ph type="title"/>
          </p:nvPr>
        </p:nvSpPr>
        <p:spPr>
          <a:xfrm>
            <a:off x="465051" y="249400"/>
            <a:ext cx="66975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Final Renders</a:t>
            </a:r>
            <a:endParaRPr/>
          </a:p>
        </p:txBody>
      </p:sp>
      <p:pic>
        <p:nvPicPr>
          <p:cNvPr id="354" name="Google Shape;35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225" y="1377499"/>
            <a:ext cx="7617326" cy="3173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3d86b14db7_0_25"/>
          <p:cNvSpPr txBox="1"/>
          <p:nvPr>
            <p:ph type="title"/>
          </p:nvPr>
        </p:nvSpPr>
        <p:spPr>
          <a:xfrm>
            <a:off x="465051" y="249400"/>
            <a:ext cx="66975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Final Renders</a:t>
            </a:r>
            <a:endParaRPr/>
          </a:p>
        </p:txBody>
      </p:sp>
      <p:pic>
        <p:nvPicPr>
          <p:cNvPr id="360" name="Google Shape;360;g33d86b14db7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226" y="1377500"/>
            <a:ext cx="7617326" cy="317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g33d86b14db7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800" y="2789646"/>
            <a:ext cx="4404125" cy="1835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3d86b14db7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4801" y="614925"/>
            <a:ext cx="4404125" cy="18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3d86b14db7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775" y="1716950"/>
            <a:ext cx="4166650" cy="17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3d86b14db7_0_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373" name="Google Shape;373;g33d86b14db7_0_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Layout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Models on right side + trashcan on left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Back Wall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Atmosphere/Effects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Rendering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Pipeline Management/Revision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3d86b14db7_0_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Models on left side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Ceiling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Cables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Emissive Lighting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Rendering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Outliner/Namespace Management</a:t>
            </a:r>
            <a:endParaRPr/>
          </a:p>
        </p:txBody>
      </p:sp>
      <p:sp>
        <p:nvSpPr>
          <p:cNvPr id="375" name="Google Shape;375;g33d86b14db7_0_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2"/>
                </a:solidFill>
              </a:rPr>
              <a:t>Sarah Smeltzer</a:t>
            </a:r>
            <a:endParaRPr/>
          </a:p>
        </p:txBody>
      </p:sp>
      <p:sp>
        <p:nvSpPr>
          <p:cNvPr id="376" name="Google Shape;376;g33d86b14db7_0_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2"/>
                </a:solidFill>
              </a:rPr>
              <a:t>Grace Hough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